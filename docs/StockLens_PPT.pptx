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Close ($)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  <c:pt idx="3">
                    <c:v>2019</c:v>
                  </c:pt>
                  <c:pt idx="4">
                    <c:v>2020</c:v>
                  </c:pt>
                  <c:pt idx="5">
                    <c:v>2021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  <c:pt idx="9">
                    <c:v>2025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1.32</c:v>
                </c:pt>
                <c:pt idx="1">
                  <c:v>3.7</c:v>
                </c:pt>
                <c:pt idx="2">
                  <c:v>5.75</c:v>
                </c:pt>
                <c:pt idx="3">
                  <c:v>4.34</c:v>
                </c:pt>
                <c:pt idx="4">
                  <c:v>9.86</c:v>
                </c:pt>
                <c:pt idx="5">
                  <c:v>19.48</c:v>
                </c:pt>
                <c:pt idx="6">
                  <c:v>18.54</c:v>
                </c:pt>
                <c:pt idx="7">
                  <c:v>36.54</c:v>
                </c:pt>
                <c:pt idx="8">
                  <c:v>107.78</c:v>
                </c:pt>
                <c:pt idx="9">
                  <c:v>153.88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E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56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560"/>
                    </a:solidFill>
                    <a:latin typeface="Arial"/>
                  </a:rPr>
                  <a:t>USD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6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trishita03/StockLens" TargetMode="External"/><Relationship Id="rId2" Type="http://schemas.openxmlformats.org/officeDocument/2006/relationships/hyperlink" Target="https://stocklens-nvda.streamlit.app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645920"/>
            <a:ext cx="5943600" cy="5943600"/>
          </a:xfrm>
          <a:prstGeom prst="ellipse">
            <a:avLst/>
          </a:prstGeom>
          <a:solidFill>
            <a:srgbClr val="76B900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365760"/>
            <a:ext cx="3291840" cy="3291840"/>
          </a:xfrm>
          <a:prstGeom prst="ellipse">
            <a:avLst/>
          </a:prstGeom>
          <a:solidFill>
            <a:srgbClr val="76B900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754880"/>
            <a:ext cx="4114800" cy="4114800"/>
          </a:xfrm>
          <a:prstGeom prst="ellipse">
            <a:avLst/>
          </a:prstGeom>
          <a:solidFill>
            <a:srgbClr val="76B900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86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STOCKLENS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9875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NVIDIA Stock Forecasting</a:t>
            </a:r>
            <a:endParaRPr lang="en-US" sz="42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LSTM Neural Networks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46177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 learning approach to next-session closing-price forecasting, deployed as an interactive Streamlit web application.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5806440"/>
            <a:ext cx="1280160" cy="0"/>
          </a:xfrm>
          <a:prstGeom prst="line">
            <a:avLst/>
          </a:prstGeom>
          <a:noFill/>
          <a:ln w="38100">
            <a:solidFill>
              <a:srgbClr val="76B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Project   |   Python  ·  TensorFlow  ·  Streamlit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forecast NVIDIA's stock, and what does this project set out to do?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29000" cy="41148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8E2"/>
            </a:solidFill>
            <a:prstDash val="solid"/>
          </a:ln>
          <a:effectLst>
            <a:outerShdw sx="100000" sy="100000" kx="0" ky="0" algn="bl" rotWithShape="0" blurRad="101600" dist="38100" dir="5400000">
              <a:srgbClr val="0D1117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40280"/>
            <a:ext cx="777240" cy="777240"/>
          </a:xfrm>
          <a:prstGeom prst="ellipse">
            <a:avLst/>
          </a:prstGeom>
          <a:solidFill>
            <a:srgbClr val="76B900"/>
          </a:solidFill>
          <a:ln/>
        </p:spPr>
      </p:sp>
      <p:pic>
        <p:nvPicPr>
          <p:cNvPr id="6" name="Image 0" descr="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4231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2461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3703320"/>
            <a:ext cx="2788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prices are volatile and non-linear, and traditional statistical models often struggle to capture long-range temporal patterns in daily price movement.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89120" y="1874520"/>
            <a:ext cx="3429000" cy="41148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8E2"/>
            </a:solidFill>
            <a:prstDash val="solid"/>
          </a:ln>
          <a:effectLst>
            <a:outerShdw sx="100000" sy="100000" kx="0" ky="0" algn="bl" rotWithShape="0" blurRad="101600" dist="38100" dir="5400000">
              <a:srgbClr val="0D1117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2240280"/>
            <a:ext cx="777240" cy="777240"/>
          </a:xfrm>
          <a:prstGeom prst="ellipse">
            <a:avLst/>
          </a:prstGeom>
          <a:solidFill>
            <a:srgbClr val="76B900"/>
          </a:solidFill>
          <a:ln/>
        </p:spPr>
      </p:sp>
      <p:pic>
        <p:nvPicPr>
          <p:cNvPr id="11" name="Image 1" descr="icons/cp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42316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32461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Approach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709160" y="3703320"/>
            <a:ext cx="2788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applies an LSTM (Long Short-Term Memory) neural network, built for sequential data, to learn patterns from historical NVIDIA closing prices.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38160" y="1874520"/>
            <a:ext cx="3429000" cy="41148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8E2"/>
            </a:solidFill>
            <a:prstDash val="solid"/>
          </a:ln>
          <a:effectLst>
            <a:outerShdw sx="100000" sy="100000" kx="0" ky="0" algn="bl" rotWithShape="0" blurRad="101600" dist="38100" dir="5400000">
              <a:srgbClr val="0D1117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58200" y="2240280"/>
            <a:ext cx="777240" cy="777240"/>
          </a:xfrm>
          <a:prstGeom prst="ellipse">
            <a:avLst/>
          </a:prstGeom>
          <a:solidFill>
            <a:srgbClr val="76B900"/>
          </a:solidFill>
          <a:ln/>
        </p:spPr>
      </p:sp>
      <p:pic>
        <p:nvPicPr>
          <p:cNvPr id="16" name="Image 2" descr="icons/trend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242316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32461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Objective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458200" y="3703320"/>
            <a:ext cx="2788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 is to forecast the next trading session's closing price using the last 60 sessions, and to surface that forecast through a deployed, usable web app.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years of NVIDIA (NVDA) daily trading history sourced via Yahoo Finance.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2004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3E8E2"/>
            </a:solidFill>
            <a:prstDash val="solid"/>
          </a:ln>
          <a:effectLst>
            <a:outerShdw sx="100000" sy="100000" kx="0" ky="0" algn="bl" rotWithShape="0" blurRad="101600" dist="38100" dir="5400000">
              <a:srgbClr val="0D1117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7568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6B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2,514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26243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days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383280"/>
            <a:ext cx="32004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3E8E2"/>
            </a:solidFill>
            <a:prstDash val="solid"/>
          </a:ln>
          <a:effectLst>
            <a:outerShdw sx="100000" sy="100000" kx="0" ky="0" algn="bl" rotWithShape="0" blurRad="101600" dist="38100" dir="5400000">
              <a:srgbClr val="0D1117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4930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6B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2016–2025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14400" y="40416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 (10 yrs)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800600"/>
            <a:ext cx="32004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3E8E2"/>
            </a:solidFill>
            <a:prstDash val="solid"/>
          </a:ln>
          <a:effectLst>
            <a:outerShdw sx="100000" sy="100000" kx="0" ky="0" algn="bl" rotWithShape="0" blurRad="101600" dist="38100" dir="5400000">
              <a:srgbClr val="0D1117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491032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6B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914400" y="54589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Open, High,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Low, Close, Volume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60520" y="187452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NVDA Yearly Average Closing Price (split-adjusted)</a:t>
            </a:r>
            <a:endParaRPr lang="en-US" sz="12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4160520" y="2194560"/>
          <a:ext cx="7406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 daily prices into LSTM-ready input sequences.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1874520" cy="219456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3E8E2"/>
            </a:solidFill>
            <a:prstDash val="solid"/>
          </a:ln>
          <a:effectLst>
            <a:outerShdw sx="100000" sy="100000" kx="0" ky="0" algn="bl" rotWithShape="0" blurRad="101600" dist="38100" dir="5400000">
              <a:srgbClr val="0D1117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11580" y="2743200"/>
            <a:ext cx="731520" cy="731520"/>
          </a:xfrm>
          <a:prstGeom prst="ellipse">
            <a:avLst/>
          </a:prstGeom>
          <a:solidFill>
            <a:srgbClr val="76B900"/>
          </a:solidFill>
          <a:ln/>
        </p:spPr>
      </p:sp>
      <p:pic>
        <p:nvPicPr>
          <p:cNvPr id="6" name="Image 0" descr="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4460" y="29260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6118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Fetch OHLCV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9808" y="3977640"/>
            <a:ext cx="165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daily NVDA data via yfinance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593467" y="3337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6B900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891790" y="2468880"/>
            <a:ext cx="1874520" cy="219456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3E8E2"/>
            </a:solidFill>
            <a:prstDash val="solid"/>
          </a:ln>
          <a:effectLst>
            <a:outerShdw sx="100000" sy="100000" kx="0" ky="0" algn="bl" rotWithShape="0" blurRad="101600" dist="38100" dir="5400000">
              <a:srgbClr val="0D1117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63290" y="2743200"/>
            <a:ext cx="731520" cy="731520"/>
          </a:xfrm>
          <a:prstGeom prst="ellipse">
            <a:avLst/>
          </a:prstGeom>
          <a:solidFill>
            <a:srgbClr val="76B900"/>
          </a:solidFill>
          <a:ln/>
        </p:spPr>
      </p:sp>
      <p:pic>
        <p:nvPicPr>
          <p:cNvPr id="12" name="Image 1" descr="icons/fil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6170" y="29260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83230" y="36118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Close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001518" y="3977640"/>
            <a:ext cx="165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closing price as the target signal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845177" y="3337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6B900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5143500" y="2468880"/>
            <a:ext cx="1874520" cy="219456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3E8E2"/>
            </a:solidFill>
            <a:prstDash val="solid"/>
          </a:ln>
          <a:effectLst>
            <a:outerShdw sx="100000" sy="100000" kx="0" ky="0" algn="bl" rotWithShape="0" blurRad="101600" dist="38100" dir="5400000">
              <a:srgbClr val="0D1117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715000" y="2743200"/>
            <a:ext cx="731520" cy="731520"/>
          </a:xfrm>
          <a:prstGeom prst="ellipse">
            <a:avLst/>
          </a:prstGeom>
          <a:solidFill>
            <a:srgbClr val="76B900"/>
          </a:solidFill>
          <a:ln/>
        </p:spPr>
      </p:sp>
      <p:pic>
        <p:nvPicPr>
          <p:cNvPr id="18" name="Image 2" descr="icons/refres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292608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34940" y="36118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(0–1)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253228" y="3977640"/>
            <a:ext cx="165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MinMaxScaler normalizes the series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7096887" y="3337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6B900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7395210" y="2468880"/>
            <a:ext cx="1874520" cy="219456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3E8E2"/>
            </a:solidFill>
            <a:prstDash val="solid"/>
          </a:ln>
          <a:effectLst>
            <a:outerShdw sx="100000" sy="100000" kx="0" ky="0" algn="bl" rotWithShape="0" blurRad="101600" dist="38100" dir="5400000">
              <a:srgbClr val="0D1117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966710" y="2743200"/>
            <a:ext cx="731520" cy="731520"/>
          </a:xfrm>
          <a:prstGeom prst="ellipse">
            <a:avLst/>
          </a:prstGeom>
          <a:solidFill>
            <a:srgbClr val="76B900"/>
          </a:solidFill>
          <a:ln/>
        </p:spPr>
      </p:sp>
      <p:pic>
        <p:nvPicPr>
          <p:cNvPr id="24" name="Image 3" descr="icons/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9590" y="292608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86650" y="36118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 (60)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504938" y="3977640"/>
            <a:ext cx="165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sequences of 60 past sessions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9348597" y="3337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6B900"/>
                </a:solidFill>
              </a:rPr>
              <a:t>→</a:t>
            </a:r>
            <a:endParaRPr lang="en-US" sz="2000" dirty="0"/>
          </a:p>
        </p:txBody>
      </p:sp>
      <p:sp>
        <p:nvSpPr>
          <p:cNvPr id="28" name="Shape 22"/>
          <p:cNvSpPr/>
          <p:nvPr/>
        </p:nvSpPr>
        <p:spPr>
          <a:xfrm>
            <a:off x="9646920" y="2468880"/>
            <a:ext cx="1874520" cy="219456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3E8E2"/>
            </a:solidFill>
            <a:prstDash val="solid"/>
          </a:ln>
          <a:effectLst>
            <a:outerShdw sx="100000" sy="100000" kx="0" ky="0" algn="bl" rotWithShape="0" blurRad="101600" dist="38100" dir="5400000">
              <a:srgbClr val="0D1117">
                <a:alpha val="16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0218420" y="2743200"/>
            <a:ext cx="731520" cy="731520"/>
          </a:xfrm>
          <a:prstGeom prst="ellipse">
            <a:avLst/>
          </a:prstGeom>
          <a:solidFill>
            <a:srgbClr val="76B900"/>
          </a:solidFill>
          <a:ln/>
        </p:spPr>
      </p:sp>
      <p:pic>
        <p:nvPicPr>
          <p:cNvPr id="30" name="Image 4" descr="icons/cpu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1300" y="2926080"/>
            <a:ext cx="365760" cy="36576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738360" y="36118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 to LSTM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9756648" y="3977640"/>
            <a:ext cx="165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 become model input tensors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60-day lookback window mirrors the deployed forecast logic — the model always looks at the most recent 60 trading sessions.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Optimized LSTM —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stacked, univariate LSTM network using only closing-price sequences.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417320" cy="182880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E2"/>
            </a:solidFill>
            <a:prstDash val="solid"/>
          </a:ln>
          <a:effectLst>
            <a:outerShdw sx="100000" sy="100000" kx="0" ky="0" algn="bl" rotWithShape="0" blurRad="101600" dist="38100" dir="5400000">
              <a:srgbClr val="0D1117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2267712"/>
            <a:ext cx="1271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13232" y="2761488"/>
            <a:ext cx="12710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Shape: (60, 1)</a:t>
            </a:r>
            <a:endParaRPr lang="en-US" sz="9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timesteps × 1 feature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045970" y="28346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6B900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17420" y="2103120"/>
            <a:ext cx="1417320" cy="182880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E2"/>
            </a:solidFill>
            <a:prstDash val="solid"/>
          </a:ln>
          <a:effectLst>
            <a:outerShdw sx="100000" sy="100000" kx="0" ky="0" algn="bl" rotWithShape="0" blurRad="101600" dist="38100" dir="5400000">
              <a:srgbClr val="0D1117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90572" y="2267712"/>
            <a:ext cx="1271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290572" y="2761488"/>
            <a:ext cx="12710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units · tanh</a:t>
            </a:r>
            <a:endParaRPr lang="en-US" sz="9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return_sequences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23310" y="28346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6B900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794760" y="2103120"/>
            <a:ext cx="1417320" cy="182880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E2"/>
            </a:solidFill>
            <a:prstDash val="solid"/>
          </a:ln>
          <a:effectLst>
            <a:outerShdw sx="100000" sy="100000" kx="0" ky="0" algn="bl" rotWithShape="0" blurRad="101600" dist="38100" dir="5400000">
              <a:srgbClr val="0D1117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67912" y="2267712"/>
            <a:ext cx="1271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Dropout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867912" y="2761488"/>
            <a:ext cx="12710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= 0.2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200650" y="28346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6B900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372100" y="2103120"/>
            <a:ext cx="1417320" cy="182880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E2"/>
            </a:solidFill>
            <a:prstDash val="solid"/>
          </a:ln>
          <a:effectLst>
            <a:outerShdw sx="100000" sy="100000" kx="0" ky="0" algn="bl" rotWithShape="0" blurRad="101600" dist="38100" dir="5400000">
              <a:srgbClr val="0D1117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45252" y="2267712"/>
            <a:ext cx="1271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45252" y="2761488"/>
            <a:ext cx="12710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units · tanh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77990" y="28346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6B900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949440" y="2103120"/>
            <a:ext cx="1417320" cy="182880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E2"/>
            </a:solidFill>
            <a:prstDash val="solid"/>
          </a:ln>
          <a:effectLst>
            <a:outerShdw sx="100000" sy="100000" kx="0" ky="0" algn="bl" rotWithShape="0" blurRad="101600" dist="38100" dir="5400000">
              <a:srgbClr val="0D1117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022592" y="2267712"/>
            <a:ext cx="1271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Dropout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022592" y="2761488"/>
            <a:ext cx="12710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= 0.2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55330" y="28346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6B900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526780" y="2103120"/>
            <a:ext cx="1417320" cy="182880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E2"/>
            </a:solidFill>
            <a:prstDash val="solid"/>
          </a:ln>
          <a:effectLst>
            <a:outerShdw sx="100000" sy="100000" kx="0" ky="0" algn="bl" rotWithShape="0" blurRad="101600" dist="38100" dir="5400000">
              <a:srgbClr val="0D1117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599932" y="2267712"/>
            <a:ext cx="1271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599932" y="2761488"/>
            <a:ext cx="12710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units · linear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932670" y="28346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6B900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0104120" y="2103120"/>
            <a:ext cx="1417320" cy="1828800"/>
          </a:xfrm>
          <a:prstGeom prst="roundRect">
            <a:avLst>
              <a:gd name="adj" fmla="val 5161"/>
            </a:avLst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  <a:effectLst>
            <a:outerShdw sx="100000" sy="100000" kx="0" ky="0" algn="bl" rotWithShape="0" blurRad="101600" dist="38100" dir="5400000">
              <a:srgbClr val="0D1117">
                <a:alpha val="1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0177272" y="2267712"/>
            <a:ext cx="1271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0177272" y="2761488"/>
            <a:ext cx="12710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unit · linear</a:t>
            </a:r>
            <a:endParaRPr lang="en-US" sz="9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next-session close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0080" y="4434840"/>
            <a:ext cx="10881360" cy="1463040"/>
          </a:xfrm>
          <a:prstGeom prst="roundRect">
            <a:avLst>
              <a:gd name="adj" fmla="val 6250"/>
            </a:avLst>
          </a:prstGeom>
          <a:solidFill>
            <a:srgbClr val="EFF4EC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46634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TensorFlow / Keras   |   ~32K trainable parameters   |   Input feature: closing price only (univariate)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14400" y="507492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stacked LSTM layers let the network learn both short-term fluctuations and longer sequential dependencies in closing-price movement, with Dropout layers added between them to reduce overfitting. This is the exact architecture deployed in the Streamlit app.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 &amp; Evaluation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iterations were benchmarked before arriving at the final architecture.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502920"/>
          </a:xfrm>
          <a:prstGeom prst="roundRect">
            <a:avLst>
              <a:gd name="adj" fmla="val 7273"/>
            </a:avLst>
          </a:prstGeom>
          <a:solidFill>
            <a:srgbClr val="1A1F1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659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166360" y="19659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720840" y="19659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75320" y="19659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829800" y="1965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881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46888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LSTM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66360" y="246888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42.22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20840" y="246888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46.49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75320" y="246888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-0.6070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3337560"/>
            <a:ext cx="10881360" cy="868680"/>
          </a:xfrm>
          <a:prstGeom prst="rect">
            <a:avLst/>
          </a:prstGeom>
          <a:solidFill>
            <a:srgbClr val="FBFCFA"/>
          </a:solidFill>
          <a:ln w="6350">
            <a:solidFill>
              <a:srgbClr val="E3E8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33756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Multivariate LSTM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66360" y="333756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52.31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20840" y="333756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56.97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75320" y="333756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-1.4135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4206240"/>
            <a:ext cx="10881360" cy="868680"/>
          </a:xfrm>
          <a:prstGeom prst="rect">
            <a:avLst/>
          </a:prstGeom>
          <a:solidFill>
            <a:srgbClr val="EFF7E6"/>
          </a:solidFill>
          <a:ln w="6350">
            <a:solidFill>
              <a:srgbClr val="E3E8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20624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6B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Optimized LSTM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166360" y="420624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6.81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720840" y="420624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75320" y="420624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0.9194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738360" y="4457700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76B900"/>
          </a:solidFill>
          <a:ln/>
        </p:spPr>
      </p:sp>
      <p:sp>
        <p:nvSpPr>
          <p:cNvPr id="26" name="Text 24"/>
          <p:cNvSpPr/>
          <p:nvPr/>
        </p:nvSpPr>
        <p:spPr>
          <a:xfrm>
            <a:off x="9738360" y="44577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" y="53949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Optimized LSTM achieved the strongest test performance among the evaluated models — MAE 6.81, RMSE 8.05, and R² 0.9194 — and was integrated into a Streamlit application for next-session closing-price forecasting.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Deployed Forecast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 a user clicks “Generate Forecast,” this sequence runs end-to-end.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3E8E2"/>
            </a:solidFill>
            <a:prstDash val="solid"/>
          </a:ln>
          <a:effectLst>
            <a:outerShdw sx="100000" sy="100000" kx="0" ky="0" algn="bl" rotWithShape="0" blurRad="101600" dist="38100" dir="5400000">
              <a:srgbClr val="0D1117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468880"/>
            <a:ext cx="502920" cy="502920"/>
          </a:xfrm>
          <a:prstGeom prst="ellipse">
            <a:avLst/>
          </a:prstGeom>
          <a:solidFill>
            <a:srgbClr val="76B90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31546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A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last 60 observations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74904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latest 60 closing-price observations are pulled from the recent NVDA data.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610612" y="356616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6B900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880360" y="228600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3E8E2"/>
            </a:solidFill>
            <a:prstDash val="solid"/>
          </a:ln>
          <a:effectLst>
            <a:outerShdw sx="100000" sy="100000" kx="0" ky="0" algn="bl" rotWithShape="0" blurRad="101600" dist="38100" dir="5400000">
              <a:srgbClr val="0D1117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17520" y="2468880"/>
            <a:ext cx="502920" cy="502920"/>
          </a:xfrm>
          <a:prstGeom prst="ellipse">
            <a:avLst/>
          </a:prstGeom>
          <a:solidFill>
            <a:srgbClr val="76B900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017520" y="31546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A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with final_scaler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17520" y="374904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sequence is scaled using the saved final_scaler (the same MinMaxScaler fit during training).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50892" y="356616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6B900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20640" y="228600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3E8E2"/>
            </a:solidFill>
            <a:prstDash val="solid"/>
          </a:ln>
          <a:effectLst>
            <a:outerShdw sx="100000" sy="100000" kx="0" ky="0" algn="bl" rotWithShape="0" blurRad="101600" dist="38100" dir="5400000">
              <a:srgbClr val="0D1117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57800" y="2468880"/>
            <a:ext cx="502920" cy="502920"/>
          </a:xfrm>
          <a:prstGeom prst="ellipse">
            <a:avLst/>
          </a:prstGeom>
          <a:solidFill>
            <a:srgbClr val="76B900"/>
          </a:solidFill>
          <a:ln/>
        </p:spPr>
      </p:sp>
      <p:sp>
        <p:nvSpPr>
          <p:cNvPr id="18" name="Text 16"/>
          <p:cNvSpPr/>
          <p:nvPr/>
        </p:nvSpPr>
        <p:spPr>
          <a:xfrm>
            <a:off x="525780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257800" y="31546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A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Reshape to (1, 60, 1)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57800" y="374904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scaled sequence is reshaped to match the model's expected input tensor shape.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091172" y="356616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6B900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60920" y="228600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3E8E2"/>
            </a:solidFill>
            <a:prstDash val="solid"/>
          </a:ln>
          <a:effectLst>
            <a:outerShdw sx="100000" sy="100000" kx="0" ky="0" algn="bl" rotWithShape="0" blurRad="101600" dist="38100" dir="5400000">
              <a:srgbClr val="0D1117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98080" y="2468880"/>
            <a:ext cx="502920" cy="502920"/>
          </a:xfrm>
          <a:prstGeom prst="ellipse">
            <a:avLst/>
          </a:prstGeom>
          <a:solidFill>
            <a:srgbClr val="76B900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498080" y="31546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A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Final Optimized LSTM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98080" y="374904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reshaped input is passed to the saved Final Optimized LSTM model for inference.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331452" y="356616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6B900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601200" y="228600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3E8E2"/>
            </a:solidFill>
            <a:prstDash val="solid"/>
          </a:ln>
          <a:effectLst>
            <a:outerShdw sx="100000" sy="100000" kx="0" ky="0" algn="bl" rotWithShape="0" blurRad="101600" dist="38100" dir="5400000">
              <a:srgbClr val="0D1117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738360" y="2468880"/>
            <a:ext cx="502920" cy="502920"/>
          </a:xfrm>
          <a:prstGeom prst="ellipse">
            <a:avLst/>
          </a:prstGeom>
          <a:solidFill>
            <a:srgbClr val="76B900"/>
          </a:solidFill>
          <a:ln/>
        </p:spPr>
      </p:sp>
      <p:sp>
        <p:nvSpPr>
          <p:cNvPr id="30" name="Text 28"/>
          <p:cNvSpPr/>
          <p:nvPr/>
        </p:nvSpPr>
        <p:spPr>
          <a:xfrm>
            <a:off x="973836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738360" y="31546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A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Inverse-transform output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738360" y="374904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scaled output is inverse-transformed with final_scaler to get the predicted closing price.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StockLens Web App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Streamlit — turning the model into an interactive, no-code dashboard.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8E2"/>
            </a:solidFill>
            <a:prstDash val="solid"/>
          </a:ln>
          <a:effectLst>
            <a:outerShdw sx="100000" sy="100000" kx="0" ky="0" algn="bl" rotWithShape="0" blurRad="101600" dist="38100" dir="5400000">
              <a:srgbClr val="0D1117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94560"/>
            <a:ext cx="548640" cy="548640"/>
          </a:xfrm>
          <a:prstGeom prst="ellipse">
            <a:avLst/>
          </a:prstGeom>
          <a:solidFill>
            <a:srgbClr val="76B900"/>
          </a:solidFill>
          <a:ln/>
        </p:spPr>
      </p:sp>
      <p:pic>
        <p:nvPicPr>
          <p:cNvPr id="6" name="Image 0" descr="icons/mon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3317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16712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A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Overview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288036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close, daily % change, and 6-month high/low, refreshed from a cached yfinance pull of recent NVDA data.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89120" y="196596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8E2"/>
            </a:solidFill>
            <a:prstDash val="solid"/>
          </a:ln>
          <a:effectLst>
            <a:outerShdw sx="100000" sy="100000" kx="0" ky="0" algn="bl" rotWithShape="0" blurRad="101600" dist="38100" dir="5400000">
              <a:srgbClr val="0D1117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2194560"/>
            <a:ext cx="548640" cy="548640"/>
          </a:xfrm>
          <a:prstGeom prst="ellipse">
            <a:avLst/>
          </a:prstGeom>
          <a:solidFill>
            <a:srgbClr val="76B900"/>
          </a:solidFill>
          <a:ln/>
        </p:spPr>
      </p:sp>
      <p:pic>
        <p:nvPicPr>
          <p:cNvPr id="11" name="Image 1" descr="icons/z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3317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216712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A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One-Click Forecasting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617720" y="288036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“Generate Forecast” button runs the full LSTM inference pipeline on demand.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38160" y="196596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8E2"/>
            </a:solidFill>
            <a:prstDash val="solid"/>
          </a:ln>
          <a:effectLst>
            <a:outerShdw sx="100000" sy="100000" kx="0" ky="0" algn="bl" rotWithShape="0" blurRad="101600" dist="38100" dir="5400000">
              <a:srgbClr val="0D1117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2194560"/>
            <a:ext cx="548640" cy="548640"/>
          </a:xfrm>
          <a:prstGeom prst="ellipse">
            <a:avLst/>
          </a:prstGeom>
          <a:solidFill>
            <a:srgbClr val="76B900"/>
          </a:solidFill>
          <a:ln/>
        </p:spPr>
      </p:sp>
      <p:pic>
        <p:nvPicPr>
          <p:cNvPr id="16" name="Image 2" descr="icons/bar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33172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52560" y="216712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A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 Comparison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366760" y="288036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comparing the latest close against the model's forecasted next-session close.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420624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8E2"/>
            </a:solidFill>
            <a:prstDash val="solid"/>
          </a:ln>
          <a:effectLst>
            <a:outerShdw sx="100000" sy="100000" kx="0" ky="0" algn="bl" rotWithShape="0" blurRad="101600" dist="38100" dir="5400000">
              <a:srgbClr val="0D1117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4434840"/>
            <a:ext cx="548640" cy="548640"/>
          </a:xfrm>
          <a:prstGeom prst="ellipse">
            <a:avLst/>
          </a:prstGeom>
          <a:solidFill>
            <a:srgbClr val="76B900"/>
          </a:solidFill>
          <a:ln/>
        </p:spPr>
      </p:sp>
      <p:pic>
        <p:nvPicPr>
          <p:cNvPr id="21" name="Image 3" descr="icons/trend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57200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440740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A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Historical Trend Chart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68680" y="512064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Six-month line chart of NVIDIA's closing price movement.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89120" y="420624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8E2"/>
            </a:solidFill>
            <a:prstDash val="solid"/>
          </a:ln>
          <a:effectLst>
            <a:outerShdw sx="100000" sy="100000" kx="0" ky="0" algn="bl" rotWithShape="0" blurRad="101600" dist="38100" dir="5400000">
              <a:srgbClr val="0D1117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17720" y="4434840"/>
            <a:ext cx="548640" cy="548640"/>
          </a:xfrm>
          <a:prstGeom prst="ellipse">
            <a:avLst/>
          </a:prstGeom>
          <a:solidFill>
            <a:srgbClr val="76B900"/>
          </a:solidFill>
          <a:ln/>
        </p:spPr>
      </p:sp>
      <p:pic>
        <p:nvPicPr>
          <p:cNvPr id="26" name="Image 4" descr="icons/databa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457200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03520" y="440740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A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Recent Trading Table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617720" y="512064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Sortable table of the last 10 sessions' Open, High, Low, Close, and Volume.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38160" y="420624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8E2"/>
            </a:solidFill>
            <a:prstDash val="solid"/>
          </a:ln>
          <a:effectLst>
            <a:outerShdw sx="100000" sy="100000" kx="0" ky="0" algn="bl" rotWithShape="0" blurRad="101600" dist="38100" dir="5400000">
              <a:srgbClr val="0D1117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66760" y="4434840"/>
            <a:ext cx="548640" cy="548640"/>
          </a:xfrm>
          <a:prstGeom prst="ellipse">
            <a:avLst/>
          </a:prstGeom>
          <a:solidFill>
            <a:srgbClr val="76B900"/>
          </a:solidFill>
          <a:ln/>
        </p:spPr>
      </p:sp>
      <p:pic>
        <p:nvPicPr>
          <p:cNvPr id="31" name="Image 5" descr="icons/compas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457200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52560" y="440740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A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Direction Signal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366760" y="512064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movement is labeled Upward, Downward, or Stable based on the forecast.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Demo — Overview &amp; Forecast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view of stocklens-nvda.streamlit.app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08792" cy="4617720"/>
          </a:xfrm>
          <a:prstGeom prst="roundRect">
            <a:avLst>
              <a:gd name="adj" fmla="val 1188"/>
            </a:avLst>
          </a:prstGeom>
          <a:solidFill>
            <a:srgbClr val="FFFFFF"/>
          </a:solidFill>
          <a:ln w="12700">
            <a:solidFill>
              <a:srgbClr val="E3E8E2"/>
            </a:solidFill>
            <a:prstDash val="solid"/>
          </a:ln>
          <a:effectLst>
            <a:outerShdw sx="100000" sy="100000" kx="0" ky="0" algn="bl" rotWithShape="0" blurRad="101600" dist="38100" dir="5400000">
              <a:srgbClr val="0D1117">
                <a:alpha val="16000"/>
              </a:srgbClr>
            </a:outerShdw>
          </a:effectLst>
        </p:spPr>
      </p:sp>
      <p:pic>
        <p:nvPicPr>
          <p:cNvPr id="5" name="Image 0" descr="cropped/img3_das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965960"/>
            <a:ext cx="10634472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Demo — Trends &amp; Trading Data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chart and the most recent trading sessions.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4617720"/>
          </a:xfrm>
          <a:prstGeom prst="roundRect">
            <a:avLst>
              <a:gd name="adj" fmla="val 1188"/>
            </a:avLst>
          </a:prstGeom>
          <a:solidFill>
            <a:srgbClr val="FFFFFF"/>
          </a:solidFill>
          <a:ln w="12700">
            <a:solidFill>
              <a:srgbClr val="E3E8E2"/>
            </a:solidFill>
            <a:prstDash val="solid"/>
          </a:ln>
          <a:effectLst>
            <a:outerShdw sx="100000" sy="100000" kx="0" ky="0" algn="bl" rotWithShape="0" blurRad="101600" dist="38100" dir="5400000">
              <a:srgbClr val="0D1117">
                <a:alpha val="16000"/>
              </a:srgbClr>
            </a:outerShdw>
          </a:effectLst>
        </p:spPr>
      </p:sp>
      <p:pic>
        <p:nvPicPr>
          <p:cNvPr id="5" name="Image 0" descr="cropped/img2_cha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" y="1938528"/>
            <a:ext cx="5129784" cy="4389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72200" y="1828800"/>
            <a:ext cx="5349240" cy="4617720"/>
          </a:xfrm>
          <a:prstGeom prst="roundRect">
            <a:avLst>
              <a:gd name="adj" fmla="val 1188"/>
            </a:avLst>
          </a:prstGeom>
          <a:solidFill>
            <a:srgbClr val="FFFFFF"/>
          </a:solidFill>
          <a:ln w="12700">
            <a:solidFill>
              <a:srgbClr val="E3E8E2"/>
            </a:solidFill>
            <a:prstDash val="solid"/>
          </a:ln>
          <a:effectLst>
            <a:outerShdw sx="100000" sy="100000" kx="0" ky="0" algn="bl" rotWithShape="0" blurRad="101600" dist="38100" dir="5400000">
              <a:srgbClr val="0D1117">
                <a:alpha val="16000"/>
              </a:srgbClr>
            </a:outerShdw>
          </a:effectLst>
        </p:spPr>
      </p:sp>
      <p:pic>
        <p:nvPicPr>
          <p:cNvPr id="7" name="Image 1" descr="cropped/img1_tabl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81928" y="1938528"/>
            <a:ext cx="5129784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of StockLens, from data to deployment.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E2"/>
            </a:solidFill>
            <a:prstDash val="solid"/>
          </a:ln>
          <a:effectLst>
            <a:outerShdw sx="100000" sy="100000" kx="0" ky="0" algn="bl" rotWithShape="0" blurRad="101600" dist="38100" dir="5400000">
              <a:srgbClr val="0D1117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86000"/>
            <a:ext cx="685800" cy="685800"/>
          </a:xfrm>
          <a:prstGeom prst="ellipse">
            <a:avLst/>
          </a:prstGeom>
          <a:solidFill>
            <a:srgbClr val="76B900"/>
          </a:solidFill>
          <a:ln/>
        </p:spPr>
      </p:sp>
      <p:pic>
        <p:nvPicPr>
          <p:cNvPr id="6" name="Image 0" descr="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45059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2860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828800" y="27432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89120" y="196596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E2"/>
            </a:solidFill>
            <a:prstDash val="solid"/>
          </a:ln>
          <a:effectLst>
            <a:outerShdw sx="100000" sy="100000" kx="0" ky="0" algn="bl" rotWithShape="0" blurRad="101600" dist="38100" dir="5400000">
              <a:srgbClr val="0D1117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2286000"/>
            <a:ext cx="685800" cy="685800"/>
          </a:xfrm>
          <a:prstGeom prst="ellipse">
            <a:avLst/>
          </a:prstGeom>
          <a:solidFill>
            <a:srgbClr val="76B900"/>
          </a:solidFill>
          <a:ln/>
        </p:spPr>
      </p:sp>
      <p:pic>
        <p:nvPicPr>
          <p:cNvPr id="11" name="Image 1" descr="icons/cp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245059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22860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TensorFlow / Keras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577840" y="27432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model training &amp; inference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38160" y="196596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E2"/>
            </a:solidFill>
            <a:prstDash val="solid"/>
          </a:ln>
          <a:effectLst>
            <a:outerShdw sx="100000" sy="100000" kx="0" ky="0" algn="bl" rotWithShape="0" blurRad="101600" dist="38100" dir="5400000">
              <a:srgbClr val="0D1117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0" y="2286000"/>
            <a:ext cx="685800" cy="685800"/>
          </a:xfrm>
          <a:prstGeom prst="ellipse">
            <a:avLst/>
          </a:prstGeom>
          <a:solidFill>
            <a:srgbClr val="76B900"/>
          </a:solidFill>
          <a:ln/>
        </p:spPr>
      </p:sp>
      <p:pic>
        <p:nvPicPr>
          <p:cNvPr id="16" name="Image 2" descr="icons/monit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2" y="2450592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26880" y="22860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326880" y="27432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application framework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411480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E2"/>
            </a:solidFill>
            <a:prstDash val="solid"/>
          </a:ln>
          <a:effectLst>
            <a:outerShdw sx="100000" sy="100000" kx="0" ky="0" algn="bl" rotWithShape="0" blurRad="101600" dist="38100" dir="5400000">
              <a:srgbClr val="0D1117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4434840"/>
            <a:ext cx="685800" cy="685800"/>
          </a:xfrm>
          <a:prstGeom prst="ellipse">
            <a:avLst/>
          </a:prstGeom>
          <a:solidFill>
            <a:srgbClr val="76B900"/>
          </a:solidFill>
          <a:ln/>
        </p:spPr>
      </p:sp>
      <p:pic>
        <p:nvPicPr>
          <p:cNvPr id="21" name="Image 3" descr="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99432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828800" y="44348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/ NumPy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828800" y="48920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 &amp; numerical operations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89120" y="411480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E2"/>
            </a:solidFill>
            <a:prstDash val="solid"/>
          </a:ln>
          <a:effectLst>
            <a:outerShdw sx="100000" sy="100000" kx="0" ky="0" algn="bl" rotWithShape="0" blurRad="101600" dist="38100" dir="5400000">
              <a:srgbClr val="0D1117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63440" y="4434840"/>
            <a:ext cx="685800" cy="685800"/>
          </a:xfrm>
          <a:prstGeom prst="ellipse">
            <a:avLst/>
          </a:prstGeom>
          <a:solidFill>
            <a:srgbClr val="76B900"/>
          </a:solidFill>
          <a:ln/>
        </p:spPr>
      </p:sp>
      <p:pic>
        <p:nvPicPr>
          <p:cNvPr id="26" name="Image 4" descr="icons/refres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4599432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77840" y="44348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scikit-learn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5577840" y="48920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scaling with MinMaxScaler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38160" y="411480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E2"/>
            </a:solidFill>
            <a:prstDash val="solid"/>
          </a:ln>
          <a:effectLst>
            <a:outerShdw sx="100000" sy="100000" kx="0" ky="0" algn="bl" rotWithShape="0" blurRad="101600" dist="38100" dir="5400000">
              <a:srgbClr val="0D1117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12480" y="4434840"/>
            <a:ext cx="685800" cy="685800"/>
          </a:xfrm>
          <a:prstGeom prst="ellipse">
            <a:avLst/>
          </a:prstGeom>
          <a:solidFill>
            <a:srgbClr val="76B900"/>
          </a:solidFill>
          <a:ln/>
        </p:spPr>
      </p:sp>
      <p:pic>
        <p:nvPicPr>
          <p:cNvPr id="31" name="Image 5" descr="icons/glob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7072" y="4599432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326880" y="44348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yfinance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9326880" y="48920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NVIDIA market data retrieval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 &amp; Future Scope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demonstrates, and where it could go next.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6B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Demonstrates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12064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3E8E2"/>
            </a:solidFill>
            <a:prstDash val="solid"/>
          </a:ln>
          <a:effectLst>
            <a:outerShdw sx="100000" sy="100000" kx="0" ky="0" algn="bl" rotWithShape="0" blurRad="101600" dist="38100" dir="5400000">
              <a:srgbClr val="0D1117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569464"/>
            <a:ext cx="146304" cy="146304"/>
          </a:xfrm>
          <a:prstGeom prst="ellipse">
            <a:avLst/>
          </a:prstGeom>
          <a:solidFill>
            <a:srgbClr val="76B900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441448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 workflow: raw data → preprocessing → model → deployment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14400" y="3438144"/>
            <a:ext cx="146304" cy="146304"/>
          </a:xfrm>
          <a:prstGeom prst="ellipse">
            <a:avLst/>
          </a:prstGeom>
          <a:solidFill>
            <a:srgbClr val="76B900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3310128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modeling with stacked LSTM layers for time-series data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" y="4306824"/>
            <a:ext cx="146304" cy="146304"/>
          </a:xfrm>
          <a:prstGeom prst="ellipse">
            <a:avLst/>
          </a:prstGeom>
          <a:solidFill>
            <a:srgbClr val="76B900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4178808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a trained forecasting model as an interactive web application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4400" y="5175504"/>
            <a:ext cx="146304" cy="146304"/>
          </a:xfrm>
          <a:prstGeom prst="ellipse">
            <a:avLst/>
          </a:prstGeom>
          <a:solidFill>
            <a:srgbClr val="76B900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5047488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recent market-data retrieval and stateful forecasting UI in Streamlit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172200" y="1874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6B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172200" y="2286000"/>
            <a:ext cx="512064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3E8E2"/>
            </a:solidFill>
            <a:prstDash val="solid"/>
          </a:ln>
          <a:effectLst>
            <a:outerShdw sx="100000" sy="100000" kx="0" ky="0" algn="bl" rotWithShape="0" blurRad="101600" dist="38100" dir="5400000">
              <a:srgbClr val="0D1117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46520" y="2569464"/>
            <a:ext cx="146304" cy="146304"/>
          </a:xfrm>
          <a:prstGeom prst="ellipse">
            <a:avLst/>
          </a:prstGeom>
          <a:solidFill>
            <a:srgbClr val="76B900"/>
          </a:solidFill>
          <a:ln/>
        </p:spPr>
      </p:sp>
      <p:sp>
        <p:nvSpPr>
          <p:cNvPr id="17" name="Text 15"/>
          <p:cNvSpPr/>
          <p:nvPr/>
        </p:nvSpPr>
        <p:spPr>
          <a:xfrm>
            <a:off x="6720840" y="2441448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technical indicators (RSI, MACD, moving averages) as extra features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46520" y="3438144"/>
            <a:ext cx="146304" cy="146304"/>
          </a:xfrm>
          <a:prstGeom prst="ellipse">
            <a:avLst/>
          </a:prstGeom>
          <a:solidFill>
            <a:srgbClr val="76B900"/>
          </a:solidFill>
          <a:ln/>
        </p:spPr>
      </p:sp>
      <p:sp>
        <p:nvSpPr>
          <p:cNvPr id="19" name="Text 17"/>
          <p:cNvSpPr/>
          <p:nvPr/>
        </p:nvSpPr>
        <p:spPr>
          <a:xfrm>
            <a:off x="6720840" y="3310128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against GRU / Transformer-based time-series models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46520" y="4306824"/>
            <a:ext cx="146304" cy="146304"/>
          </a:xfrm>
          <a:prstGeom prst="ellipse">
            <a:avLst/>
          </a:prstGeom>
          <a:solidFill>
            <a:srgbClr val="76B900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4178808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forecast accuracy with rolling RMSE / MAE tracking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46520" y="5175504"/>
            <a:ext cx="146304" cy="146304"/>
          </a:xfrm>
          <a:prstGeom prst="ellipse">
            <a:avLst/>
          </a:prstGeom>
          <a:solidFill>
            <a:srgbClr val="76B900"/>
          </a:solidFill>
          <a:ln/>
        </p:spPr>
      </p:sp>
      <p:sp>
        <p:nvSpPr>
          <p:cNvPr id="23" name="Text 21"/>
          <p:cNvSpPr/>
          <p:nvPr/>
        </p:nvSpPr>
        <p:spPr>
          <a:xfrm>
            <a:off x="6720840" y="5047488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multi-step forecasting and additional stock tickers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5486400" cy="5486400"/>
          </a:xfrm>
          <a:prstGeom prst="ellipse">
            <a:avLst/>
          </a:prstGeom>
          <a:solidFill>
            <a:srgbClr val="76B900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200400"/>
            <a:ext cx="5486400" cy="5486400"/>
          </a:xfrm>
          <a:prstGeom prst="ellipse">
            <a:avLst/>
          </a:prstGeom>
          <a:solidFill>
            <a:srgbClr val="76B900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474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297680"/>
            <a:ext cx="1280160" cy="0"/>
          </a:xfrm>
          <a:prstGeom prst="line">
            <a:avLst/>
          </a:prstGeom>
          <a:noFill/>
          <a:ln w="38100">
            <a:solidFill>
              <a:srgbClr val="76B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480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StockLens   |   </a:t>
            </a:r>
            <a:pPr indent="0" marL="0">
              <a:buNone/>
            </a:pPr>
            <a:r>
              <a:rPr lang="en-US" sz="1300" u="sng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github.com/trishita03/StockLens</a:t>
            </a:r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indent="0" marL="0">
              <a:buNone/>
            </a:pPr>
            <a:r>
              <a:rPr lang="en-US" sz="1300" u="sng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stocklens-nvda.streamlit.app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2026-07-21T07:32:54Z</dcterms:created>
  <dcterms:modified xsi:type="dcterms:W3CDTF">2026-07-21T07:32:54Z</dcterms:modified>
</cp:coreProperties>
</file>